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VOSGES HAUT-CHOCOLAT  ·  A CONVERSATION ABOUT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79"/>
              </a:lnSpc>
            </a:pPr>
            <a:r>
              <a:rPr sz="3200" b="0" i="0">
                <a:solidFill>
                  <a:srgbClr val="242423"/>
                </a:solidFill>
                <a:latin typeface="Georgia"/>
              </a:rPr>
              <a:t>Same walls. Same brand. </a:t>
            </a:r>
            <a:r>
              <a:rPr sz="3200" b="0" i="1">
                <a:solidFill>
                  <a:srgbClr val="3D1152"/>
                </a:solidFill>
                <a:latin typeface="Georgia"/>
              </a:rPr>
              <a:t>A different company underneath.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42423"/>
                </a:solidFill>
                <a:latin typeface="Calibri"/>
              </a:rPr>
              <a:t>What the prior era built. What the new era built. And what we kept on purpose.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91440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120640" cy="4846320"/>
          </a:xfrm>
          <a:prstGeom prst="rect">
            <a:avLst/>
          </a:prstGeom>
          <a:noFill/>
          <a:ln w="9525">
            <a:solidFill>
              <a:srgbClr val="A5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7432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A5A5A5"/>
                </a:solidFill>
                <a:latin typeface="Calibri"/>
              </a:rPr>
              <a:t>THEN · PRIOR OWNERSHIP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</a:pPr>
            <a:r>
              <a:rPr sz="1800" b="0" i="0">
                <a:solidFill>
                  <a:srgbClr val="242423"/>
                </a:solidFill>
                <a:latin typeface="Georgia"/>
              </a:rPr>
              <a:t>A brand ahead of its </a:t>
            </a:r>
            <a:r>
              <a:rPr sz="1800" b="0" i="1">
                <a:solidFill>
                  <a:srgbClr val="242423"/>
                </a:solidFill>
                <a:latin typeface="Georgia"/>
              </a:rPr>
              <a:t>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5A4E65"/>
                </a:solidFill>
                <a:latin typeface="Calibri"/>
              </a:rPr>
              <a:t>World-class creative and innovation no one else could touch —
but the operation was never built to carry the brand at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BRAND · R&amp;D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514600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Iconic. Truffles, bars, bacon bar, PB-PB cup.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5234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752344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15-year-old CMS · Nutracoster recipe tool, 20+ yrs · islands of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FLOOR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990088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Paper pick lists. Paper counts. Rekeying everywhere.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27832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227832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Manual inspection. Errors caught downstream — often after shipment.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65576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465576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~1,675 orders/day peak · manual-heavy · single carrier.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COST / 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703320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$34.47 avg · legacy pricing · no carrier optionality.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4106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941064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Customer replies averaged 24–48 hours.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70248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1">
                <a:solidFill>
                  <a:srgbClr val="5A4E65"/>
                </a:solidFill>
                <a:latin typeface="Calibri"/>
              </a:rPr>
              <a:t>“The PB-PB cup never left a kitchen recipe.” The creative was there. The chassis to ship it wasn’t.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03520"/>
            <a:ext cx="4754880" cy="127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A5A5A5"/>
                </a:solidFill>
                <a:latin typeface="Georgia"/>
              </a:rPr>
              <a:t>1,675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DAILY CAPACITY
PEAK (2023)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A5A5A5"/>
                </a:solidFill>
                <a:latin typeface="Georgia"/>
              </a:rPr>
              <a:t>$4.01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A5A5A5"/>
                </a:solidFill>
                <a:latin typeface="Georgia"/>
              </a:rPr>
              <a:t>$34.47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COST PER
SHIPMENT (AVG)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1508760"/>
            <a:ext cx="5577840" cy="4846320"/>
          </a:xfrm>
          <a:prstGeom prst="rect">
            <a:avLst/>
          </a:prstGeom>
          <a:noFill/>
          <a:ln w="9525">
            <a:solidFill>
              <a:srgbClr val="381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1600200"/>
            <a:ext cx="27432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8165F"/>
                </a:solidFill>
                <a:latin typeface="Calibri"/>
              </a:rPr>
              <a:t>NOW · CURRENT OWNERSHIP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828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</a:pPr>
            <a:r>
              <a:rPr sz="1800" b="0" i="0">
                <a:solidFill>
                  <a:srgbClr val="38165F"/>
                </a:solidFill>
                <a:latin typeface="Georgia"/>
              </a:rPr>
              <a:t>The brand, </a:t>
            </a:r>
            <a:r>
              <a:rPr sz="1800" b="0" i="1">
                <a:solidFill>
                  <a:srgbClr val="3D1152"/>
                </a:solidFill>
                <a:latin typeface="Georgia"/>
              </a:rPr>
              <a:t>plus the engine it deserves.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1031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242423"/>
                </a:solidFill>
                <a:latin typeface="Calibri"/>
              </a:rPr>
              <a:t>Same building. Same team DNA. A modernized operational spine —
connected systems, instrumented floors, simpler choices everywhere.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1460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BRAND · R&amp;D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2514600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Kept intact.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Kept intact. Innovation calendar protected — the reason you buy Vosges.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75234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752344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Current-gen MRP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retires the 15-yr CMS · Flavor Studio AI replaces Nutracoster.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990088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FLOOR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2990088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Tablets &amp; scanners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on every station. Paper cut 50%.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227832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QA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3227832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98.2% pick accuracy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(Gorgias FY25) · checkweigher + scan-verified.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465576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3465576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~3,120/day sustainable.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370332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COST / SHIP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703320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$24.07 avg (FY24 DTC) | $18.38 avg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(FY25 DTC) — carrier simplification + negotiation.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94106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SERVICE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69480" y="3941064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Under 1-hour first-response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with Gorgias + 24/7 virtual agents.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251960"/>
            <a:ext cx="5120640" cy="365760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251960"/>
            <a:ext cx="38100" cy="36576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428853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</a:pPr>
            <a:r>
              <a:rPr sz="1000" b="1" i="0">
                <a:solidFill>
                  <a:srgbClr val="38165F"/>
                </a:solidFill>
                <a:latin typeface="Calibri"/>
              </a:rPr>
              <a:t>What we kept on purpose: </a:t>
            </a:r>
            <a:r>
              <a:rPr sz="1000" b="0" i="0">
                <a:solidFill>
                  <a:srgbClr val="242423"/>
                </a:solidFill>
                <a:latin typeface="Calibri"/>
              </a:rPr>
              <a:t>the creative, the flavor R&amp;D, the brand voice. None of the upgrade touched the product.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303520"/>
            <a:ext cx="512064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3,120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CAPACITY
(SAME SPACE)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$1.38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79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$18.38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4079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COST PER
SHIPMENT (AVG)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THE DIVIDEND OF MODERNIZATION · AND WHAT HELD DURING THE REBUILD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79"/>
              </a:lnSpc>
            </a:pPr>
            <a:r>
              <a:rPr sz="3200" b="0" i="0">
                <a:solidFill>
                  <a:srgbClr val="242423"/>
                </a:solidFill>
                <a:latin typeface="Georgia"/>
              </a:rPr>
              <a:t>A footprint sized for December. </a:t>
            </a:r>
            <a:r>
              <a:rPr sz="3200" b="0" i="1">
                <a:solidFill>
                  <a:srgbClr val="242423"/>
                </a:solidFill>
                <a:latin typeface="Georgia"/>
              </a:rPr>
              <a:t>Running in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1">
                <a:solidFill>
                  <a:srgbClr val="242423"/>
                </a:solidFill>
                <a:latin typeface="Georgia"/>
              </a:rPr>
              <a:t>Fewer systems, better ones. More throughput, same walls. Faster answers at every door — even as the line was being rebuilt underneath.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91440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65176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~3,120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SUSTAINABLE DAILY
SHIPPING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265176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5,268/d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1168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SINGLE-DAY PEAK
PROVEN · DEC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508760"/>
            <a:ext cx="265176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−50%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1168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TECHNOLOGY COST
YEAR OVER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508760"/>
            <a:ext cx="265176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6002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−75%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01168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OLD SOFTWARE RISK
ELIMINATED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0604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WHAT THE MODERNIZATION DELIVERED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880360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MRP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2880360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Retired the 15-year CMS; current-gen MRP in its place.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80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1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36392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136392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Flavor Studio replaces Nutracoster (20+ yrs) — AI at the bench.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2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Next-gen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392424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FLOOR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392424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Tablets &amp; scanners at every station. Paper −50%.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92424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Every station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648456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SHIPPING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648456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Carrier simplification. Ice &amp; unboxing standardized.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648456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−47% $/ship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904488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904488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Gorgias + 24/7 agents — answered under the hour.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24–48h →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60520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VISIBILITY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160520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Live dashboards. 24/7 automated audits. Data-driven decisions.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16052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Always-on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16552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INTEGRATION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416552"/>
            <a:ext cx="4572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Every system talks to every other system.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16552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One graph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846320"/>
            <a:ext cx="4572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A5A5A5"/>
                </a:solidFill>
                <a:latin typeface="Calibri"/>
              </a:rPr>
              <a:t>PICK ACCURACY · GORGIAS FY25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520"/>
              </a:lnSpc>
            </a:pPr>
            <a:r>
              <a:rPr sz="4800" b="0" i="0">
                <a:solidFill>
                  <a:srgbClr val="38165F"/>
                </a:solidFill>
                <a:latin typeface="Georgia"/>
              </a:rPr>
              <a:t>98.2</a:t>
            </a:r>
            <a:r>
              <a:rPr sz="2400" b="0" i="0">
                <a:solidFill>
                  <a:srgbClr val="A5A5A5"/>
                </a:solidFill>
                <a:latin typeface="Georgia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516636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A5A5A5"/>
                </a:solidFill>
                <a:latin typeface="Calibri"/>
              </a:rPr>
              <a:t>OF SHIPPED ORDERS — NO CUSTOMER-REPORTED ISSUE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852160"/>
            <a:ext cx="25400" cy="54864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7044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242423"/>
                </a:solidFill>
                <a:latin typeface="Calibri"/>
              </a:rPr>
              <a:t>Held the line during the rebuild. </a:t>
            </a:r>
            <a:r>
              <a:rPr sz="1050" b="0" i="1">
                <a:solidFill>
                  <a:srgbClr val="242423"/>
                </a:solidFill>
                <a:latin typeface="Georgia"/>
              </a:rPr>
              <a:t>Q4 2025 — the quarter we re-sequenced the pick line — shipped record holiday volume (Dec 2025: 61,503 shipments, peak 5,268/day) without degrading the accuracy floor.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WHAT LIES AHEAD · PHOENIX PHASE TWO · AND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79"/>
              </a:lnSpc>
            </a:pPr>
            <a:r>
              <a:rPr sz="3200" b="0" i="0">
                <a:solidFill>
                  <a:srgbClr val="242423"/>
                </a:solidFill>
                <a:latin typeface="Georgia"/>
              </a:rPr>
              <a:t>Faster. Simpler. </a:t>
            </a:r>
            <a:r>
              <a:rPr sz="3200" b="0" i="1">
                <a:solidFill>
                  <a:srgbClr val="242423"/>
                </a:solidFill>
                <a:latin typeface="Georgia"/>
              </a:rPr>
              <a:t>And then — portable.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1">
                <a:solidFill>
                  <a:srgbClr val="242423"/>
                </a:solidFill>
                <a:latin typeface="Georgia"/>
              </a:rPr>
              <a:t>An $80,000 investment that pays itself back in twelve weeks — and teaches us how to wire the next warehouse in a week, not a year.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91440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$80K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PHASE 2
INVEST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59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59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$7K/wk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ONGOING
SAVINGS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8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8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12 wks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8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PAYBACK
PERIOD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197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197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$364K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7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YEAR-1
ANNUALIZED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6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6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$1.1M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6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THREE-YEAR
CUMULATIVE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35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35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25–35%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5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OVERHEAD CUT
ON THE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468880"/>
            <a:ext cx="3657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PHASE TWO · ON THE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</a:pPr>
            <a:r>
              <a:rPr sz="1600" b="0" i="0">
                <a:solidFill>
                  <a:srgbClr val="242423"/>
                </a:solidFill>
                <a:latin typeface="Georgia"/>
              </a:rPr>
              <a:t>The things that still look </a:t>
            </a:r>
            <a:r>
              <a:rPr sz="1600" b="0" i="1">
                <a:solidFill>
                  <a:srgbClr val="38165F"/>
                </a:solidFill>
                <a:latin typeface="Georgia"/>
              </a:rPr>
              <a:t>manual.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63240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Gift orders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06324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Dedicated box-maker station at the line’s head. Gift-note printed on scan — never missed again.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55848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QA stop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355848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QA &amp; Organizer merge into one role. One person owns the box before it moves.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48456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Sealing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3648456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Auto-sealer replaces manual tape &amp; fold. Seasonal rental — paid back in one peak week.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941064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Labeling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941064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Three-tap ShipStation Mobile retired. Auto peel-and-apply labeler takes over.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233672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Boxes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233672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Sizes re-aligned to FedEx One Rate tiers. New SKUs require box-team approval.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26280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Bedding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5262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Pre-cut, known-weight. The checkweigher stops guessing; shipping math becomes exact.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2468880"/>
            <a:ext cx="3657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THE MATH · CUMULATIVE $ THROUGH THE DOOR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</a:pPr>
            <a:r>
              <a:rPr sz="1600" b="0" i="0">
                <a:solidFill>
                  <a:srgbClr val="242423"/>
                </a:solidFill>
                <a:latin typeface="Georgia"/>
              </a:rPr>
              <a:t>$80K out. </a:t>
            </a:r>
            <a:r>
              <a:rPr sz="1600" b="0" i="1">
                <a:solidFill>
                  <a:srgbClr val="38165F"/>
                </a:solidFill>
                <a:latin typeface="Georgia"/>
              </a:rPr>
              <a:t>$1.1M back.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063240"/>
            <a:ext cx="1097280" cy="12700"/>
          </a:xfrm>
          <a:prstGeom prst="rect">
            <a:avLst/>
          </a:prstGeom>
          <a:solidFill>
            <a:srgbClr val="2424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127248"/>
            <a:ext cx="1097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38165F"/>
                </a:solidFill>
                <a:latin typeface="Georgia"/>
              </a:rPr>
              <a:t>Wk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3401568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A5A5A5"/>
                </a:solidFill>
                <a:latin typeface="Calibri"/>
              </a:rPr>
              <a:t>BREAK-EVEN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3063240"/>
            <a:ext cx="1097280" cy="12700"/>
          </a:xfrm>
          <a:prstGeom prst="rect">
            <a:avLst/>
          </a:prstGeom>
          <a:solidFill>
            <a:srgbClr val="2424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6440" y="3127248"/>
            <a:ext cx="1097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38165F"/>
                </a:solidFill>
                <a:latin typeface="Georgia"/>
              </a:rPr>
              <a:t>Wk 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3401568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A5A5A5"/>
                </a:solidFill>
                <a:latin typeface="Calibri"/>
              </a:rPr>
              <a:t>+$284K NET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40880" y="3063240"/>
            <a:ext cx="1097280" cy="12700"/>
          </a:xfrm>
          <a:prstGeom prst="rect">
            <a:avLst/>
          </a:prstGeom>
          <a:solidFill>
            <a:srgbClr val="2424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127248"/>
            <a:ext cx="1097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38165F"/>
                </a:solidFill>
                <a:latin typeface="Georgia"/>
              </a:rPr>
              <a:t>Yr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3401568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A5A5A5"/>
                </a:solidFill>
                <a:latin typeface="Calibri"/>
              </a:rPr>
              <a:t>+$1M NET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0" y="3749039"/>
            <a:ext cx="25400" cy="54864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81728" y="376732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242423"/>
                </a:solidFill>
                <a:latin typeface="Calibri"/>
              </a:rPr>
              <a:t>Read it this way — </a:t>
            </a:r>
            <a:r>
              <a:rPr sz="1050" b="0" i="1">
                <a:solidFill>
                  <a:srgbClr val="242423"/>
                </a:solidFill>
                <a:latin typeface="Georgia"/>
              </a:rPr>
              <a:t>every line of cost stays flat; every line of savings stacks. The curves cross at week twelve. Everything after is structural margin on the P&amp;L.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0" y="2468880"/>
            <a:ext cx="3566160" cy="4023360"/>
          </a:xfrm>
          <a:prstGeom prst="rect">
            <a:avLst/>
          </a:prstGeom>
          <a:solidFill>
            <a:srgbClr val="3D1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95360" y="2560320"/>
            <a:ext cx="3200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EAE1F5"/>
                </a:solidFill>
                <a:latin typeface="Calibri"/>
              </a:rPr>
              <a:t>AND THEN — THE REAL UNLOCK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0" y="2788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</a:pPr>
            <a:r>
              <a:rPr sz="1600" b="0" i="0">
                <a:solidFill>
                  <a:srgbClr val="FFFFFF"/>
                </a:solidFill>
                <a:latin typeface="Georgia"/>
              </a:rPr>
              <a:t>A template that </a:t>
            </a:r>
            <a:r>
              <a:rPr sz="1600" b="0" i="1">
                <a:solidFill>
                  <a:srgbClr val="EAE1F5"/>
                </a:solidFill>
                <a:latin typeface="Georgia"/>
              </a:rPr>
              <a:t>travels.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320040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FFFFF"/>
                </a:solidFill>
                <a:latin typeface="Georgia"/>
              </a:rPr>
              <a:t>Chicago (Hub · Full SKU)  ───  Node II (Subset)  ───  Node III (Subset)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36576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FFFFF"/>
                </a:solidFill>
                <a:latin typeface="Georgia"/>
              </a:rPr>
              <a:t>Every simplification on this line is a step toward a standard — something we can wire somewhere else.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416052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FFFFF"/>
                </a:solidFill>
                <a:latin typeface="Georgia"/>
              </a:rPr>
              <a:t>A portable warehouse template. Light up a second location to fulfill a subset of products — closer to the customer, faster to deliver, cheaper to ship.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0" y="466344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FFFFF"/>
                </a:solidFill>
                <a:latin typeface="Georgia"/>
              </a:rPr>
              <a:t>Not a bigger building. A smarter network.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95360" y="5212080"/>
            <a:ext cx="3200400" cy="12700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0" y="5303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</a:pPr>
            <a:r>
              <a:rPr sz="1100" b="1" i="1">
                <a:solidFill>
                  <a:srgbClr val="EAE1F5"/>
                </a:solidFill>
                <a:latin typeface="Georgia"/>
              </a:rPr>
              <a:t>Simplify first. Replicate second. </a:t>
            </a:r>
            <a:r>
              <a:rPr sz="1100" b="0" i="1">
                <a:solidFill>
                  <a:srgbClr val="FFFFFF"/>
                </a:solidFill>
                <a:latin typeface="Georgia"/>
              </a:rPr>
              <a:t>The next warehouse is a configuration, not a construction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