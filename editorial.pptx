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B1A18"/>
                </a:solidFill>
                <a:latin typeface="Calibri"/>
              </a:rPr>
              <a:t>Vosges Haut-Chocolat · A Conversation About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2011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8680"/>
                </a:solidFill>
                <a:latin typeface="Calibri"/>
              </a:rPr>
              <a:t>Fiscal 2025 Review </a:t>
            </a:r>
            <a:r>
              <a:rPr sz="800" b="1" i="0">
                <a:solidFill>
                  <a:srgbClr val="38165F"/>
                </a:solidFill>
                <a:latin typeface="Calibri"/>
              </a:rPr>
              <a:t>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84048"/>
            <a:ext cx="1124712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B1A18"/>
                </a:solidFill>
                <a:latin typeface="Georgia"/>
              </a:rPr>
              <a:t>Same walls. Same brand. </a:t>
            </a:r>
            <a:r>
              <a:rPr sz="2800" b="0" i="1">
                <a:solidFill>
                  <a:srgbClr val="1B1A18"/>
                </a:solidFill>
                <a:latin typeface="Georgia"/>
              </a:rPr>
              <a:t>A different company </a:t>
            </a:r>
            <a:r>
              <a:rPr sz="2800" b="0" i="1">
                <a:solidFill>
                  <a:srgbClr val="1B1A18"/>
                </a:solidFill>
                <a:latin typeface="Georgia"/>
              </a:rPr>
              <a:t>underneath.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4A4742"/>
                </a:solidFill>
                <a:latin typeface="Georgia"/>
              </a:rPr>
              <a:t>What the prior era built. What the new era built. And what we kept on purpose.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394960" cy="5257800"/>
          </a:xfrm>
          <a:prstGeom prst="rect">
            <a:avLst/>
          </a:prstGeom>
          <a:noFill/>
          <a:ln w="9525">
            <a:solidFill>
              <a:srgbClr val="D9D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8680"/>
                </a:solidFill>
                <a:latin typeface="Calibri"/>
              </a:rPr>
              <a:t>Then · Prior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1A18"/>
                </a:solidFill>
                <a:latin typeface="Georgia"/>
              </a:rPr>
              <a:t>A brand ahead of its </a:t>
            </a:r>
            <a:r>
              <a:rPr sz="1600" b="0" i="1">
                <a:solidFill>
                  <a:srgbClr val="1B1A18"/>
                </a:solidFill>
                <a:latin typeface="Georgia"/>
              </a:rPr>
              <a:t>engine.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830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742"/>
                </a:solidFill>
                <a:latin typeface="Calibri"/>
              </a:rPr>
              <a:t>World-class creative and innovation no one else could touch — but the operation was never built to carry the brand at scale.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2148840"/>
          <a:ext cx="50292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4160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BRAND · R&amp;D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Iconic. Truffles, bars, bacon bar, PB-PB cup.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SYSTEMS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15-year-old CMS · Nutracoster recipe tool, 20+ yrs · islands of data.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FLOOR TOOLS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Paper pick lists. Paper counts. Rekeying everywhere.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QA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Manual inspection. Errors caught downstream — often after shipment.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CAPACITY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~1,675 orders/day peak · manual-heavy · single carrier.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COST / SHIP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$34.47 avg · legacy pricing · no carrier optionality.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Customer replies averaged 24–48 hours.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2062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742"/>
                </a:solidFill>
                <a:latin typeface="Georgia"/>
              </a:rPr>
              <a:t>“The PB-PB cup never left a kitchen recipe.” The creative was there. The chassis to ship it wasn’t.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63440"/>
            <a:ext cx="50292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8A8680"/>
                </a:solidFill>
                <a:latin typeface="Georgia"/>
              </a:rPr>
              <a:t>1,675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383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DAILY CAPACITY
PEAK (2023)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8A8680"/>
                </a:solidFill>
                <a:latin typeface="Georgia"/>
              </a:rPr>
              <a:t>$4.01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0383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DIRECT FULFILLMENT
LABOR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8A8680"/>
                </a:solidFill>
                <a:latin typeface="Georgia"/>
              </a:rPr>
              <a:t>$34.47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0383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COST PER
SHIPMENT (AVG)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1280160"/>
            <a:ext cx="5577840" cy="5257800"/>
          </a:xfrm>
          <a:prstGeom prst="rect">
            <a:avLst/>
          </a:prstGeom>
          <a:noFill/>
          <a:ln w="9525">
            <a:solidFill>
              <a:srgbClr val="381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37160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165F"/>
                </a:solidFill>
                <a:latin typeface="Calibri"/>
              </a:rPr>
              <a:t>Now · Current Ownership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55448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1A18"/>
                </a:solidFill>
                <a:latin typeface="Georgia"/>
              </a:rPr>
              <a:t>The brand, </a:t>
            </a:r>
            <a:r>
              <a:rPr sz="1600" b="0" i="1">
                <a:solidFill>
                  <a:srgbClr val="38165F"/>
                </a:solidFill>
                <a:latin typeface="Georgia"/>
              </a:rPr>
              <a:t>plus the engine it deserves.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7830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742"/>
                </a:solidFill>
                <a:latin typeface="Calibri"/>
              </a:rPr>
              <a:t>Same building. Same team DNA. A modernized operational spine — connected systems, instrumented floors, simpler choices everywhere.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355080" y="2148840"/>
          <a:ext cx="52120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43434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BRAND · R&amp;D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Kept intact.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Innovation calendar protected — the reason you buy Vosges.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SYSTEMS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Current-gen MRP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retires the 15-yr CMS · </a:t>
                      </a:r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Flavor Studio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AI replaces Nutracoster.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FLOOR TOOLS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Tablets &amp; scanners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on every station. Paper cut 50%.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QA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98.2% pick accuracy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(Gorgias FY25) · checkweigher + scan-verified.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CAPACITY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~3,120/day sustainable.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COST / SHIP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$24.07 avg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(FY24) | </a:t>
                      </a:r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$18.38 avg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(FY25) — carrier simplification.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Under 1-hour first-response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with Gorgias + 24/7 virtual agents.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6355080" y="4206240"/>
            <a:ext cx="5212080" cy="292608"/>
          </a:xfrm>
          <a:prstGeom prst="rect">
            <a:avLst/>
          </a:prstGeom>
          <a:solidFill>
            <a:srgbClr val="EAE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4206240"/>
            <a:ext cx="38100" cy="292608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24281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165F"/>
                </a:solidFill>
                <a:latin typeface="Calibri"/>
              </a:rPr>
              <a:t>What we kept on purpose: </a:t>
            </a:r>
            <a:r>
              <a:rPr sz="900" b="0" i="0">
                <a:solidFill>
                  <a:srgbClr val="1B1A18"/>
                </a:solidFill>
                <a:latin typeface="Calibri"/>
              </a:rPr>
              <a:t>the creative, the flavor R&amp;D, the brand voice. None of the upgrade touched the product.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4663440"/>
            <a:ext cx="5212080" cy="9525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3,120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50383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CAPACITY
(SAME SPACE)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$1.38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50383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DIRECT FULFILLMENT
LABOR 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$18.38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50383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COST PER
SHIPMENT (AVG)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B1A18"/>
                </a:solidFill>
                <a:latin typeface="Calibri"/>
              </a:rPr>
              <a:t>The Dividend of Modernization · And What Held During the Rebuild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2011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8680"/>
                </a:solidFill>
                <a:latin typeface="Calibri"/>
              </a:rPr>
              <a:t>Fiscal 2025 Review </a:t>
            </a:r>
            <a:r>
              <a:rPr sz="800" b="1" i="0">
                <a:solidFill>
                  <a:srgbClr val="38165F"/>
                </a:solidFill>
                <a:latin typeface="Calibri"/>
              </a:rPr>
              <a:t>II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84048"/>
            <a:ext cx="1124712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B1A18"/>
                </a:solidFill>
                <a:latin typeface="Georgia"/>
              </a:rPr>
              <a:t>A footprint sized for December. </a:t>
            </a:r>
            <a:r>
              <a:rPr sz="2800" b="0" i="1">
                <a:solidFill>
                  <a:srgbClr val="1B1A18"/>
                </a:solidFill>
                <a:latin typeface="Georgia"/>
              </a:rPr>
              <a:t>Running in April.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4A4742"/>
                </a:solidFill>
                <a:latin typeface="Georgia"/>
              </a:rPr>
              <a:t>Fewer systems, better ones. More throughput, same walls. Faster answers at every door — even as the line was being rebuilt underneath.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6118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533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~3,120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8680"/>
                </a:solidFill>
                <a:latin typeface="Calibri"/>
              </a:rPr>
              <a:t>Sustainable daily
shipping capacity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118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3533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−50%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6916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8680"/>
                </a:solidFill>
                <a:latin typeface="Calibri"/>
              </a:rPr>
              <a:t>Technology cost
year over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280160"/>
            <a:ext cx="36118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3533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−75%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6916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8680"/>
                </a:solidFill>
                <a:latin typeface="Calibri"/>
              </a:rPr>
              <a:t>Old software risk
eliminated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24028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165F"/>
                </a:solidFill>
                <a:latin typeface="Calibri"/>
              </a:rPr>
              <a:t>What the Modernization Delivered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2423160"/>
          <a:ext cx="6583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480560"/>
                <a:gridCol w="1280160"/>
              </a:tblGrid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Retired the 15-year CMS; current-gen MRP in its place.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1 stack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RECIPE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Flavor Studio replaces Nutracoster (20+ yrs) — AI at the bench.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Next-gen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FLOOR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Tablets &amp; scanners at every station. Paper −50%.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Every station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SHIPPING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Carrier simplification. Ice &amp; unboxing standardized.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−47% $/ship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Gorgias + 24/7 agents — answered under the hour.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24–48h → 1h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VISIBILITY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Live dashboards. 24/7 automated audits. Data-driven decisions.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Always-on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INTEGRATION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Every system talks to every other system.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One graph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7315200" y="2240280"/>
            <a:ext cx="4434840" cy="4251960"/>
          </a:xfrm>
          <a:prstGeom prst="rect">
            <a:avLst/>
          </a:prstGeom>
          <a:noFill/>
          <a:ln w="9525">
            <a:solidFill>
              <a:srgbClr val="D9D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2331720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8680"/>
                </a:solidFill>
                <a:latin typeface="Calibri"/>
              </a:rPr>
              <a:t>Pick Accuracy · Gorgias FY25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606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38165F"/>
                </a:solidFill>
                <a:latin typeface="Georgia"/>
              </a:rPr>
              <a:t>98.2</a:t>
            </a:r>
            <a:r>
              <a:rPr sz="2600" b="0" i="0">
                <a:solidFill>
                  <a:srgbClr val="8A8680"/>
                </a:solidFill>
                <a:latin typeface="Georgia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337560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742"/>
                </a:solidFill>
                <a:latin typeface="Georgia"/>
              </a:rPr>
              <a:t>of shipped orders — no customer-reported issue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3800" y="3749039"/>
            <a:ext cx="25400" cy="64008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3767328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1A18"/>
                </a:solidFill>
                <a:latin typeface="Calibri"/>
              </a:rPr>
              <a:t>Held the line during the rebuild. </a:t>
            </a:r>
            <a:r>
              <a:rPr sz="950" b="0" i="1">
                <a:solidFill>
                  <a:srgbClr val="1B1A18"/>
                </a:solidFill>
                <a:latin typeface="Georgia"/>
              </a:rPr>
              <a:t>Q4 2025 — the quarter we re-sequenced the pick line — shipped record holiday volume (Dec 2025: 61,503 shipments) without degrading the accuracy floor.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89204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165F"/>
                </a:solidFill>
                <a:latin typeface="Calibri"/>
              </a:rPr>
              <a:t>Exhibit · Capacity Already Built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07492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1A18"/>
                </a:solidFill>
                <a:latin typeface="Georgia"/>
              </a:rPr>
              <a:t>Engineered to sustain </a:t>
            </a:r>
            <a:r>
              <a:rPr sz="1100" b="0" i="1">
                <a:solidFill>
                  <a:srgbClr val="38165F"/>
                </a:solidFill>
                <a:latin typeface="Georgia"/>
              </a:rPr>
              <a:t>~3,120/day</a:t>
            </a:r>
            <a:r>
              <a:rPr sz="1100" b="0" i="0">
                <a:solidFill>
                  <a:srgbClr val="4A4742"/>
                </a:solidFill>
                <a:latin typeface="Georgia"/>
              </a:rPr>
              <a:t>. Same building. Same racking. Same crew. December 2025 averaged 2,563/day — on the same footprint that capped at 1,675/day in 2023.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5394960"/>
          <a:ext cx="11247108" cy="502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</a:tblGrid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Jul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Aug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Sep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Oct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Nov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Dec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205/d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222/d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152/d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78/d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166/d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217/d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204/d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1,472/d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2,563/d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319/d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457/d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191/d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57200" y="5943600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A8680"/>
                </a:solidFill>
                <a:latin typeface="Calibri"/>
              </a:rPr>
              <a:t>FY25 monthly daily average throughput (ShipStation) · Sustainable ceiling: ~3,120/day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B1A18"/>
                </a:solidFill>
                <a:latin typeface="Calibri"/>
              </a:rPr>
              <a:t>What Lies Ahead · Phoenix Phase Two · And 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2011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8680"/>
                </a:solidFill>
                <a:latin typeface="Calibri"/>
              </a:rPr>
              <a:t>Fiscal 2025 Review </a:t>
            </a:r>
            <a:r>
              <a:rPr sz="800" b="1" i="0">
                <a:solidFill>
                  <a:srgbClr val="38165F"/>
                </a:solidFill>
                <a:latin typeface="Calibri"/>
              </a:rPr>
              <a:t>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84048"/>
            <a:ext cx="1124712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B1A18"/>
                </a:solidFill>
                <a:latin typeface="Georgia"/>
              </a:rPr>
              <a:t>Faster. Simpler. </a:t>
            </a:r>
            <a:r>
              <a:rPr sz="2800" b="0" i="1">
                <a:solidFill>
                  <a:srgbClr val="1B1A18"/>
                </a:solidFill>
                <a:latin typeface="Georgia"/>
              </a:rPr>
              <a:t>And then — portable.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4A4742"/>
                </a:solidFill>
                <a:latin typeface="Georgia"/>
              </a:rPr>
              <a:t>An $80,000 investment that pays itself back in twelve weeks — and teaches us how to wire the next warehouse in a week, not a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$80K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Phase 2
invest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50007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59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$7K/wk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59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Ongoing
savings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2814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5966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12 wks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6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Payback
period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1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8773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$364K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3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Year-1
annualized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28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1580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$1.1M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1580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Three-year
cumulative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5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4387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25–35%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4387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Overhead cut
on the 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103120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165F"/>
                </a:solidFill>
                <a:latin typeface="Calibri"/>
              </a:rPr>
              <a:t>Phase Two · On the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28600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1A18"/>
                </a:solidFill>
                <a:latin typeface="Georgia"/>
              </a:rPr>
              <a:t>The things that still look </a:t>
            </a:r>
            <a:r>
              <a:rPr sz="1400" b="0" i="1">
                <a:solidFill>
                  <a:srgbClr val="38165F"/>
                </a:solidFill>
                <a:latin typeface="Georgia"/>
              </a:rPr>
              <a:t>manual.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57200" y="256032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3337560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Gift orders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Dedicated box-maker station at the line’s head. Gift-note printed on scan — never missed.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QA stop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QA &amp; Organizer merge into one role. One person owns the box before it moves.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Sealing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Auto-sealer replaces manual tape &amp; fold. Seasonal rental — paid back in one peak week.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Labeling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ShipStation Mobile retired. Auto peel-and-apply labeler takes over.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Boxes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Sizes re-aligned to FedEx One Rate tiers. New SKUs require box-team approval.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Bedding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Pre-cut, known-weight. Shipping math becomes exact.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846320" y="21031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165F"/>
                </a:solidFill>
                <a:latin typeface="Calibri"/>
              </a:rPr>
              <a:t>The Math · Cumulative $ Through the Door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28600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1A18"/>
                </a:solidFill>
                <a:latin typeface="Georgia"/>
              </a:rPr>
              <a:t>$80K out. </a:t>
            </a:r>
            <a:r>
              <a:rPr sz="1400" b="0" i="1">
                <a:solidFill>
                  <a:srgbClr val="38165F"/>
                </a:solidFill>
                <a:latin typeface="Georgia"/>
              </a:rPr>
              <a:t>$1.1M back.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2578608"/>
            <a:ext cx="105156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0" y="263347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8165F"/>
                </a:solidFill>
                <a:latin typeface="Georgia"/>
              </a:rPr>
              <a:t>Wk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871216"/>
            <a:ext cx="1051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BREAK-EVEN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2578608"/>
            <a:ext cx="105156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263347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8165F"/>
                </a:solidFill>
                <a:latin typeface="Georgia"/>
              </a:rPr>
              <a:t>Wk 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2871216"/>
            <a:ext cx="1051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+$284K NET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0" y="2578608"/>
            <a:ext cx="105156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0" y="263347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8165F"/>
                </a:solidFill>
                <a:latin typeface="Georgia"/>
              </a:rPr>
              <a:t>Yr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2871216"/>
            <a:ext cx="1051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+$1M NET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4846320" y="3154680"/>
          <a:ext cx="347472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340"/>
                <a:gridCol w="434340"/>
                <a:gridCol w="434340"/>
                <a:gridCol w="434340"/>
                <a:gridCol w="434340"/>
                <a:gridCol w="434340"/>
                <a:gridCol w="434340"/>
                <a:gridCol w="4343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W0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W4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W8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W12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W16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W26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W52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Yr 3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8A8680"/>
                          </a:solidFill>
                          <a:latin typeface="Georgia"/>
                        </a:rPr>
                        <a:t>−$80K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8A8680"/>
                          </a:solidFill>
                          <a:latin typeface="Georgia"/>
                        </a:rPr>
                        <a:t>−$52K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8A8680"/>
                          </a:solidFill>
                          <a:latin typeface="Georgia"/>
                        </a:rPr>
                        <a:t>−$24K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38165F"/>
                          </a:solidFill>
                          <a:latin typeface="Georgia"/>
                        </a:rPr>
                        <a:t>+$4K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38165F"/>
                          </a:solidFill>
                          <a:latin typeface="Georgia"/>
                        </a:rPr>
                        <a:t>+$32K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38165F"/>
                          </a:solidFill>
                          <a:latin typeface="Georgia"/>
                        </a:rPr>
                        <a:t>+$102K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38165F"/>
                          </a:solidFill>
                          <a:latin typeface="Georgia"/>
                        </a:rPr>
                        <a:t>+$284K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38165F"/>
                          </a:solidFill>
                          <a:latin typeface="Georgia"/>
                        </a:rPr>
                        <a:t>+$1.0M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4846320" y="3749039"/>
            <a:ext cx="25400" cy="59436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76732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1A18"/>
                </a:solidFill>
                <a:latin typeface="Calibri"/>
              </a:rPr>
              <a:t>Read it this way — </a:t>
            </a:r>
            <a:r>
              <a:rPr sz="900" b="0" i="1">
                <a:solidFill>
                  <a:srgbClr val="1B1A18"/>
                </a:solidFill>
                <a:latin typeface="Georgia"/>
              </a:rPr>
              <a:t>every line of cost stays flat; every line of savings stacks. The curves cross at week twelve. Everything after is structural margin on the P&amp;L.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2103120"/>
            <a:ext cx="3246120" cy="4389120"/>
          </a:xfrm>
          <a:prstGeom prst="rect">
            <a:avLst/>
          </a:prstGeom>
          <a:solidFill>
            <a:srgbClr val="3D11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69680" y="2194560"/>
            <a:ext cx="2834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AE1F5"/>
                </a:solidFill>
                <a:latin typeface="Calibri"/>
              </a:rPr>
              <a:t>And Then — The Real Unlock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23774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>A template that </a:t>
            </a:r>
            <a:r>
              <a:rPr sz="1400" b="0" i="1">
                <a:solidFill>
                  <a:srgbClr val="EAE1F5"/>
                </a:solidFill>
                <a:latin typeface="Georgia"/>
              </a:rPr>
              <a:t>travels.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69748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Georgia"/>
              </a:rPr>
              <a:t>Chicago (Hub)  ──  Node II  ──  Node III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0175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Georgia"/>
              </a:rPr>
              <a:t>Every simplification on this line is a step toward a standard — something we can wire somewhere else.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35204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Georgia"/>
              </a:rPr>
              <a:t>A portable warehouse template. Light up a second location — closer to the customer, faster to deliver, cheaper to ship.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Georgia"/>
              </a:rPr>
              <a:t>Not a bigger building. A smarter network.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69680" y="4480560"/>
            <a:ext cx="2834640" cy="9525"/>
          </a:xfrm>
          <a:prstGeom prst="rect">
            <a:avLst/>
          </a:prstGeom>
          <a:solidFill>
            <a:srgbClr val="EAE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69680" y="457200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EAE1F5"/>
                </a:solidFill>
                <a:latin typeface="Georgia"/>
              </a:rPr>
              <a:t>Simplify first. Replicate second. </a:t>
            </a:r>
            <a:r>
              <a:rPr sz="950" b="0" i="1">
                <a:solidFill>
                  <a:srgbClr val="FFFFFF"/>
                </a:solidFill>
                <a:latin typeface="Georgia"/>
              </a:rPr>
              <a:t>The next warehouse is a configuration, not a construction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