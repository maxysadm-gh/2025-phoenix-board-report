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9144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3D1152"/>
                </a:solidFill>
                <a:latin typeface="Calibri"/>
              </a:rPr>
              <a:t>VOSGES HAUT-CHOCOLAT  ·  A CONVERSATION ABOUT CAPABILITY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79"/>
              </a:lnSpc>
            </a:pPr>
            <a:r>
              <a:rPr sz="3200" b="0" i="0">
                <a:solidFill>
                  <a:srgbClr val="242423"/>
                </a:solidFill>
                <a:latin typeface="Georgia"/>
              </a:rPr>
              <a:t>Same walls. Same brand. </a:t>
            </a:r>
            <a:r>
              <a:rPr sz="3200" b="0" i="1">
                <a:solidFill>
                  <a:srgbClr val="3D1152"/>
                </a:solidFill>
                <a:latin typeface="Georgia"/>
              </a:rPr>
              <a:t>A different company underneath.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9144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42423"/>
                </a:solidFill>
                <a:latin typeface="Calibri"/>
              </a:rPr>
              <a:t>What the prior era built. What the new era built. And what we kept on purpose.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914400" cy="12700"/>
          </a:xfrm>
          <a:prstGeom prst="rect">
            <a:avLst/>
          </a:prstGeom>
          <a:solidFill>
            <a:srgbClr val="381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5120640" cy="4846320"/>
          </a:xfrm>
          <a:prstGeom prst="rect">
            <a:avLst/>
          </a:prstGeom>
          <a:noFill/>
          <a:ln w="9525">
            <a:solidFill>
              <a:srgbClr val="A5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27432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A5A5A5"/>
                </a:solidFill>
                <a:latin typeface="Calibri"/>
              </a:rPr>
              <a:t>THEN · PRIOR OWNERSHIP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70"/>
              </a:lnSpc>
            </a:pPr>
            <a:r>
              <a:rPr sz="1800" b="0" i="0">
                <a:solidFill>
                  <a:srgbClr val="242423"/>
                </a:solidFill>
                <a:latin typeface="Georgia"/>
              </a:rPr>
              <a:t>A brand ahead of its </a:t>
            </a:r>
            <a:r>
              <a:rPr sz="1800" b="0" i="1">
                <a:solidFill>
                  <a:srgbClr val="242423"/>
                </a:solidFill>
                <a:latin typeface="Georgia"/>
              </a:rPr>
              <a:t>engine.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4572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1">
                <a:solidFill>
                  <a:srgbClr val="5A4E65"/>
                </a:solidFill>
                <a:latin typeface="Calibri"/>
              </a:rPr>
              <a:t>World-class creative and innovation no one else could touch —
but the operation was never built to carry the brand at scale.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14600"/>
            <a:ext cx="10058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BRAND · R&amp;D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514600"/>
            <a:ext cx="37033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0">
                <a:solidFill>
                  <a:srgbClr val="242423"/>
                </a:solidFill>
                <a:latin typeface="Calibri"/>
              </a:rPr>
              <a:t>Iconic. Truffles, bars, bacon bar, PB-PB cup.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52344"/>
            <a:ext cx="10058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SYSTEMS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2752344"/>
            <a:ext cx="37033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0">
                <a:solidFill>
                  <a:srgbClr val="242423"/>
                </a:solidFill>
                <a:latin typeface="Calibri"/>
              </a:rPr>
              <a:t>15-year-old CMS · Nutracoster recipe tool, 20+ yrs · islands of data.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990088"/>
            <a:ext cx="10058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FLOOR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2990088"/>
            <a:ext cx="37033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0">
                <a:solidFill>
                  <a:srgbClr val="242423"/>
                </a:solidFill>
                <a:latin typeface="Calibri"/>
              </a:rPr>
              <a:t>Paper pick lists. Paper counts. Rekeying everywhere.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227832"/>
            <a:ext cx="10058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QA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3227832"/>
            <a:ext cx="37033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0">
                <a:solidFill>
                  <a:srgbClr val="242423"/>
                </a:solidFill>
                <a:latin typeface="Calibri"/>
              </a:rPr>
              <a:t>Manual inspection. Errors caught downstream — often after shipment.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65576"/>
            <a:ext cx="10058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CAPACITY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3465576"/>
            <a:ext cx="37033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0">
                <a:solidFill>
                  <a:srgbClr val="242423"/>
                </a:solidFill>
                <a:latin typeface="Calibri"/>
              </a:rPr>
              <a:t>~1,675 orders/day peak · manual-heavy · single carrier.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703320"/>
            <a:ext cx="10058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COST / SHIP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3703320"/>
            <a:ext cx="37033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0">
                <a:solidFill>
                  <a:srgbClr val="242423"/>
                </a:solidFill>
                <a:latin typeface="Calibri"/>
              </a:rPr>
              <a:t>$34.47 avg · legacy pricing · no carrier optionality.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941064"/>
            <a:ext cx="10058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SERVICE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83080" y="3941064"/>
            <a:ext cx="37033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0">
                <a:solidFill>
                  <a:srgbClr val="242423"/>
                </a:solidFill>
                <a:latin typeface="Calibri"/>
              </a:rPr>
              <a:t>Customer replies averaged 24–48 hours.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270248"/>
            <a:ext cx="4754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1">
                <a:solidFill>
                  <a:srgbClr val="5A4E65"/>
                </a:solidFill>
                <a:latin typeface="Calibri"/>
              </a:rPr>
              <a:t>“The PB-PB cup never left a kitchen recipe.” The creative was there. The chassis to ship it wasn’t.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303520"/>
            <a:ext cx="4754880" cy="127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413248"/>
            <a:ext cx="1828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0" i="0">
                <a:solidFill>
                  <a:srgbClr val="A5A5A5"/>
                </a:solidFill>
                <a:latin typeface="Georgia"/>
              </a:rPr>
              <a:t>1,675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824728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0" i="0">
                <a:solidFill>
                  <a:srgbClr val="A5A5A5"/>
                </a:solidFill>
                <a:latin typeface="Calibri"/>
              </a:rPr>
              <a:t>DAILY CAPACITY
PEAK (2023)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5413248"/>
            <a:ext cx="1828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0" i="0">
                <a:solidFill>
                  <a:srgbClr val="A5A5A5"/>
                </a:solidFill>
                <a:latin typeface="Georgia"/>
              </a:rPr>
              <a:t>$4.01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80" y="5824728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0" i="0">
                <a:solidFill>
                  <a:srgbClr val="A5A5A5"/>
                </a:solidFill>
                <a:latin typeface="Calibri"/>
              </a:rPr>
              <a:t>DIRECT FULFILLMENT
LABOR COST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5413248"/>
            <a:ext cx="1828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0" i="0">
                <a:solidFill>
                  <a:srgbClr val="A5A5A5"/>
                </a:solidFill>
                <a:latin typeface="Georgia"/>
              </a:rPr>
              <a:t>$34.47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5824728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0" i="0">
                <a:solidFill>
                  <a:srgbClr val="A5A5A5"/>
                </a:solidFill>
                <a:latin typeface="Calibri"/>
              </a:rPr>
              <a:t>COST PER
SHIPMENT (AVG)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1508760"/>
            <a:ext cx="5577840" cy="4846320"/>
          </a:xfrm>
          <a:prstGeom prst="rect">
            <a:avLst/>
          </a:prstGeom>
          <a:noFill/>
          <a:ln w="9525">
            <a:solidFill>
              <a:srgbClr val="381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17920" y="1600200"/>
            <a:ext cx="27432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38165F"/>
                </a:solidFill>
                <a:latin typeface="Calibri"/>
              </a:rPr>
              <a:t>NOW · CURRENT OWNERSHIP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1828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70"/>
              </a:lnSpc>
            </a:pPr>
            <a:r>
              <a:rPr sz="1800" b="0" i="0">
                <a:solidFill>
                  <a:srgbClr val="38165F"/>
                </a:solidFill>
                <a:latin typeface="Georgia"/>
              </a:rPr>
              <a:t>The brand, </a:t>
            </a:r>
            <a:r>
              <a:rPr sz="1800" b="0" i="1">
                <a:solidFill>
                  <a:srgbClr val="3D1152"/>
                </a:solidFill>
                <a:latin typeface="Georgia"/>
              </a:rPr>
              <a:t>plus the engine it deserves.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2103120"/>
            <a:ext cx="5029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1">
                <a:solidFill>
                  <a:srgbClr val="242423"/>
                </a:solidFill>
                <a:latin typeface="Calibri"/>
              </a:rPr>
              <a:t>Same building. Same team DNA. A modernized operational spine —
connected systems, instrumented floors, simpler choices everywhere.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2514600"/>
            <a:ext cx="10058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BRAND · R&amp;D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69480" y="2514600"/>
            <a:ext cx="4069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7"/>
              </a:lnSpc>
            </a:pPr>
            <a:r>
              <a:rPr sz="1050" b="1" i="0">
                <a:solidFill>
                  <a:srgbClr val="38165F"/>
                </a:solidFill>
                <a:latin typeface="Georgia"/>
              </a:rPr>
              <a:t>Kept intact. </a:t>
            </a:r>
            <a:r>
              <a:rPr sz="1050" b="0" i="0">
                <a:solidFill>
                  <a:srgbClr val="242423"/>
                </a:solidFill>
                <a:latin typeface="Calibri"/>
              </a:rPr>
              <a:t>Kept intact. Innovation calendar protected — the reason you buy Vosges.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2752344"/>
            <a:ext cx="10058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SYSTEMS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9480" y="2752344"/>
            <a:ext cx="4069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7"/>
              </a:lnSpc>
            </a:pPr>
            <a:r>
              <a:rPr sz="1050" b="1" i="0">
                <a:solidFill>
                  <a:srgbClr val="38165F"/>
                </a:solidFill>
                <a:latin typeface="Georgia"/>
              </a:rPr>
              <a:t>Current-gen MRP </a:t>
            </a:r>
            <a:r>
              <a:rPr sz="1050" b="0" i="0">
                <a:solidFill>
                  <a:srgbClr val="242423"/>
                </a:solidFill>
                <a:latin typeface="Calibri"/>
              </a:rPr>
              <a:t>retires the 15-yr CMS · Flavor Studio AI replaces Nutracoster.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2990088"/>
            <a:ext cx="10058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FLOOR TOOLS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9480" y="2990088"/>
            <a:ext cx="4069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7"/>
              </a:lnSpc>
            </a:pPr>
            <a:r>
              <a:rPr sz="1050" b="1" i="0">
                <a:solidFill>
                  <a:srgbClr val="38165F"/>
                </a:solidFill>
                <a:latin typeface="Georgia"/>
              </a:rPr>
              <a:t>Tablets &amp; scanners </a:t>
            </a:r>
            <a:r>
              <a:rPr sz="1050" b="0" i="0">
                <a:solidFill>
                  <a:srgbClr val="242423"/>
                </a:solidFill>
                <a:latin typeface="Calibri"/>
              </a:rPr>
              <a:t>on every station. Paper cut 50%.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227832"/>
            <a:ext cx="10058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QA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69480" y="3227832"/>
            <a:ext cx="4069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7"/>
              </a:lnSpc>
            </a:pPr>
            <a:r>
              <a:rPr sz="1050" b="1" i="0">
                <a:solidFill>
                  <a:srgbClr val="38165F"/>
                </a:solidFill>
                <a:latin typeface="Georgia"/>
              </a:rPr>
              <a:t>98.2% pick accuracy </a:t>
            </a:r>
            <a:r>
              <a:rPr sz="1050" b="0" i="0">
                <a:solidFill>
                  <a:srgbClr val="242423"/>
                </a:solidFill>
                <a:latin typeface="Calibri"/>
              </a:rPr>
              <a:t>(Gorgias FY25) · checkweigher + scan-verified.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0" y="3465576"/>
            <a:ext cx="10058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CAPACITY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69480" y="3465576"/>
            <a:ext cx="4069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7"/>
              </a:lnSpc>
            </a:pPr>
            <a:r>
              <a:rPr sz="1050" b="1" i="0">
                <a:solidFill>
                  <a:srgbClr val="38165F"/>
                </a:solidFill>
                <a:latin typeface="Georgia"/>
              </a:rPr>
              <a:t>~3,120/day sustainable.</a:t>
            </a:r>
            <a:r>
              <a:rPr sz="1050" b="0" i="0">
                <a:solidFill>
                  <a:srgbClr val="242423"/>
                </a:solidFill>
                <a:latin typeface="Calibri"/>
              </a:rPr>
              <a:t/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0" y="3703320"/>
            <a:ext cx="10058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COST / SHIP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69480" y="3703320"/>
            <a:ext cx="4069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7"/>
              </a:lnSpc>
            </a:pPr>
            <a:r>
              <a:rPr sz="1050" b="1" i="0">
                <a:solidFill>
                  <a:srgbClr val="38165F"/>
                </a:solidFill>
                <a:latin typeface="Georgia"/>
              </a:rPr>
              <a:t>$24.07 avg (FY24 DTC) | $18.38 avg </a:t>
            </a:r>
            <a:r>
              <a:rPr sz="1050" b="0" i="0">
                <a:solidFill>
                  <a:srgbClr val="242423"/>
                </a:solidFill>
                <a:latin typeface="Calibri"/>
              </a:rPr>
              <a:t>(FY25 DTC) — carrier simplification + negotiation.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3941064"/>
            <a:ext cx="10058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SERVICE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69480" y="3941064"/>
            <a:ext cx="4069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7"/>
              </a:lnSpc>
            </a:pPr>
            <a:r>
              <a:rPr sz="1050" b="1" i="0">
                <a:solidFill>
                  <a:srgbClr val="38165F"/>
                </a:solidFill>
                <a:latin typeface="Georgia"/>
              </a:rPr>
              <a:t>Under 1-hour first-response </a:t>
            </a:r>
            <a:r>
              <a:rPr sz="1050" b="0" i="0">
                <a:solidFill>
                  <a:srgbClr val="242423"/>
                </a:solidFill>
                <a:latin typeface="Calibri"/>
              </a:rPr>
              <a:t>with Gorgias + 24/7 virtual agents.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17920" y="4251960"/>
            <a:ext cx="5120640" cy="365760"/>
          </a:xfrm>
          <a:prstGeom prst="rect">
            <a:avLst/>
          </a:prstGeom>
          <a:solidFill>
            <a:srgbClr val="EAE1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17920" y="4251960"/>
            <a:ext cx="38100" cy="365760"/>
          </a:xfrm>
          <a:prstGeom prst="rect">
            <a:avLst/>
          </a:prstGeom>
          <a:solidFill>
            <a:srgbClr val="381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27648" y="4288536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</a:pPr>
            <a:r>
              <a:rPr sz="1000" b="1" i="0">
                <a:solidFill>
                  <a:srgbClr val="38165F"/>
                </a:solidFill>
                <a:latin typeface="Calibri"/>
              </a:rPr>
              <a:t>What we kept on purpose: </a:t>
            </a:r>
            <a:r>
              <a:rPr sz="1000" b="0" i="0">
                <a:solidFill>
                  <a:srgbClr val="242423"/>
                </a:solidFill>
                <a:latin typeface="Calibri"/>
              </a:rPr>
              <a:t>the creative, the flavor R&amp;D, the brand voice. None of the upgrade touched the product.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17920" y="5303520"/>
            <a:ext cx="5120640" cy="12700"/>
          </a:xfrm>
          <a:prstGeom prst="rect">
            <a:avLst/>
          </a:prstGeom>
          <a:solidFill>
            <a:srgbClr val="381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0" y="5413248"/>
            <a:ext cx="1828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0" i="0">
                <a:solidFill>
                  <a:srgbClr val="38165F"/>
                </a:solidFill>
                <a:latin typeface="Georgia"/>
              </a:rPr>
              <a:t>3,120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0" y="5824728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0" i="0">
                <a:solidFill>
                  <a:srgbClr val="A5A5A5"/>
                </a:solidFill>
                <a:latin typeface="Calibri"/>
              </a:rPr>
              <a:t>CAPACITY
(SAME SPACE)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46720" y="5413248"/>
            <a:ext cx="1828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0" i="0">
                <a:solidFill>
                  <a:srgbClr val="38165F"/>
                </a:solidFill>
                <a:latin typeface="Georgia"/>
              </a:rPr>
              <a:t>$1.38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46720" y="5824728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0" i="0">
                <a:solidFill>
                  <a:srgbClr val="A5A5A5"/>
                </a:solidFill>
                <a:latin typeface="Calibri"/>
              </a:rPr>
              <a:t>DIRECT FULFILLMENT
LABOR COST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784079" y="5413248"/>
            <a:ext cx="1828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0" i="0">
                <a:solidFill>
                  <a:srgbClr val="38165F"/>
                </a:solidFill>
                <a:latin typeface="Georgia"/>
              </a:rPr>
              <a:t>$18.38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84079" y="5824728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0" i="0">
                <a:solidFill>
                  <a:srgbClr val="A5A5A5"/>
                </a:solidFill>
                <a:latin typeface="Calibri"/>
              </a:rPr>
              <a:t>COST PER
SHIPMENT (AVG)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9144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3D1152"/>
                </a:solidFill>
                <a:latin typeface="Calibri"/>
              </a:rPr>
              <a:t>THE DIVIDEND OF MODERNIZATION · AND WHAT HELD DURING THE REBUILD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79"/>
              </a:lnSpc>
            </a:pPr>
            <a:r>
              <a:rPr sz="3200" b="0" i="0">
                <a:solidFill>
                  <a:srgbClr val="242423"/>
                </a:solidFill>
                <a:latin typeface="Georgia"/>
              </a:rPr>
              <a:t>A footprint sized for December. </a:t>
            </a:r>
            <a:r>
              <a:rPr sz="3200" b="0" i="1">
                <a:solidFill>
                  <a:srgbClr val="242423"/>
                </a:solidFill>
                <a:latin typeface="Georgia"/>
              </a:rPr>
              <a:t>Running in April.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058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1">
                <a:solidFill>
                  <a:srgbClr val="242423"/>
                </a:solidFill>
                <a:latin typeface="Georgia"/>
              </a:rPr>
              <a:t>Fewer systems, better ones. More throughput, same walls. Faster answers at every door — even as the line was being rebuilt underneath.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914400" cy="12700"/>
          </a:xfrm>
          <a:prstGeom prst="rect">
            <a:avLst/>
          </a:prstGeom>
          <a:solidFill>
            <a:srgbClr val="381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3520440" cy="25400"/>
          </a:xfrm>
          <a:prstGeom prst="rect">
            <a:avLst/>
          </a:prstGeom>
          <a:solidFill>
            <a:srgbClr val="381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35204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0" i="0">
                <a:solidFill>
                  <a:srgbClr val="38165F"/>
                </a:solidFill>
                <a:latin typeface="Georgia"/>
              </a:rPr>
              <a:t>~3,120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3520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SUSTAINABLE DAILY
SHIPPING CAPACITY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79" y="1508760"/>
            <a:ext cx="3520440" cy="25400"/>
          </a:xfrm>
          <a:prstGeom prst="rect">
            <a:avLst/>
          </a:prstGeom>
          <a:solidFill>
            <a:srgbClr val="381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79" y="1600200"/>
            <a:ext cx="35204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0" i="0">
                <a:solidFill>
                  <a:srgbClr val="38165F"/>
                </a:solidFill>
                <a:latin typeface="Georgia"/>
              </a:rPr>
              <a:t>−50%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2011680"/>
            <a:ext cx="3520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TECHNOLOGY COST
YEAR OVER YEAR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18" y="1508760"/>
            <a:ext cx="3520440" cy="25400"/>
          </a:xfrm>
          <a:prstGeom prst="rect">
            <a:avLst/>
          </a:prstGeom>
          <a:solidFill>
            <a:srgbClr val="381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8" y="1600200"/>
            <a:ext cx="35204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0" i="0">
                <a:solidFill>
                  <a:srgbClr val="38165F"/>
                </a:solidFill>
                <a:latin typeface="Georgia"/>
              </a:rPr>
              <a:t>−75%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8" y="2011680"/>
            <a:ext cx="3520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OLD SOFTWARE RISK
ELIMINATED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606040"/>
            <a:ext cx="4572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3D1152"/>
                </a:solidFill>
                <a:latin typeface="Calibri"/>
              </a:rPr>
              <a:t>WHAT THE MODERNIZATION DELIVERED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880360"/>
            <a:ext cx="9144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MRP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880360"/>
            <a:ext cx="38404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0">
                <a:solidFill>
                  <a:srgbClr val="242423"/>
                </a:solidFill>
                <a:latin typeface="Calibri"/>
              </a:rPr>
              <a:t>Retired the 15-year CMS; current-gen MRP in its place.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288036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50" b="0" i="1">
                <a:solidFill>
                  <a:srgbClr val="38165F"/>
                </a:solidFill>
                <a:latin typeface="Georgia"/>
              </a:rPr>
              <a:t>1 stack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136392"/>
            <a:ext cx="9144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RECIPE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136392"/>
            <a:ext cx="38404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0">
                <a:solidFill>
                  <a:srgbClr val="242423"/>
                </a:solidFill>
                <a:latin typeface="Calibri"/>
              </a:rPr>
              <a:t>Flavor Studio replaces Nutracoster (20+ yrs) — AI at the bench.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3136392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50" b="0" i="1">
                <a:solidFill>
                  <a:srgbClr val="38165F"/>
                </a:solidFill>
                <a:latin typeface="Georgia"/>
              </a:rPr>
              <a:t>Next-gen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392424"/>
            <a:ext cx="9144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FLOOR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392424"/>
            <a:ext cx="38404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0">
                <a:solidFill>
                  <a:srgbClr val="242423"/>
                </a:solidFill>
                <a:latin typeface="Calibri"/>
              </a:rPr>
              <a:t>Tablets &amp; scanners at every station. Paper −50%.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392424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50" b="0" i="1">
                <a:solidFill>
                  <a:srgbClr val="38165F"/>
                </a:solidFill>
                <a:latin typeface="Georgia"/>
              </a:rPr>
              <a:t>Every station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648456"/>
            <a:ext cx="9144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SHIPPING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3648456"/>
            <a:ext cx="38404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0">
                <a:solidFill>
                  <a:srgbClr val="242423"/>
                </a:solidFill>
                <a:latin typeface="Calibri"/>
              </a:rPr>
              <a:t>Carrier simplification. Ice &amp; unboxing standardized.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3648456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50" b="0" i="1">
                <a:solidFill>
                  <a:srgbClr val="38165F"/>
                </a:solidFill>
                <a:latin typeface="Georgia"/>
              </a:rPr>
              <a:t>−47% $/ship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904488"/>
            <a:ext cx="9144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SERVICE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3904488"/>
            <a:ext cx="38404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0">
                <a:solidFill>
                  <a:srgbClr val="242423"/>
                </a:solidFill>
                <a:latin typeface="Calibri"/>
              </a:rPr>
              <a:t>Gorgias + 24/7 agents — answered under the hour.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3904488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50" b="0" i="1">
                <a:solidFill>
                  <a:srgbClr val="38165F"/>
                </a:solidFill>
                <a:latin typeface="Georgia"/>
              </a:rPr>
              <a:t>24–48h →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160520"/>
            <a:ext cx="9144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VISIBILITY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4160520"/>
            <a:ext cx="38404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0">
                <a:solidFill>
                  <a:srgbClr val="242423"/>
                </a:solidFill>
                <a:latin typeface="Calibri"/>
              </a:rPr>
              <a:t>Live dashboards. 24/7 automated audits. Data-driven decisions.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0" y="416052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50" b="0" i="1">
                <a:solidFill>
                  <a:srgbClr val="38165F"/>
                </a:solidFill>
                <a:latin typeface="Georgia"/>
              </a:rPr>
              <a:t>Always-on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416552"/>
            <a:ext cx="9144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INTEGRATION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54480" y="4416552"/>
            <a:ext cx="38404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0">
                <a:solidFill>
                  <a:srgbClr val="242423"/>
                </a:solidFill>
                <a:latin typeface="Calibri"/>
              </a:rPr>
              <a:t>Every system talks to every other system.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4416552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50" b="0" i="1">
                <a:solidFill>
                  <a:srgbClr val="38165F"/>
                </a:solidFill>
                <a:latin typeface="Georgia"/>
              </a:rPr>
              <a:t>One graph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132320" y="2606040"/>
            <a:ext cx="4572000" cy="3840480"/>
          </a:xfrm>
          <a:prstGeom prst="rect">
            <a:avLst/>
          </a:prstGeom>
          <a:solidFill>
            <a:srgbClr val="F6F6F4"/>
          </a:solidFill>
          <a:ln w="9525">
            <a:solidFill>
              <a:srgbClr val="D9D3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06640" y="2743200"/>
            <a:ext cx="40233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A5A5A5"/>
                </a:solidFill>
                <a:latin typeface="Calibri"/>
              </a:rPr>
              <a:t>PICK ACCURACY · GORGIAS FY25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06640" y="30175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6439"/>
              </a:lnSpc>
            </a:pPr>
            <a:r>
              <a:rPr sz="5600" b="0" i="0">
                <a:solidFill>
                  <a:srgbClr val="38165F"/>
                </a:solidFill>
                <a:latin typeface="Georgia"/>
              </a:rPr>
              <a:t>98.2</a:t>
            </a:r>
            <a:r>
              <a:rPr sz="2800" b="0" i="0">
                <a:solidFill>
                  <a:srgbClr val="A5A5A5"/>
                </a:solidFill>
                <a:latin typeface="Georgia"/>
              </a:rPr>
              <a:t>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3749039"/>
            <a:ext cx="4023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A5A5A5"/>
                </a:solidFill>
                <a:latin typeface="Calibri"/>
              </a:rPr>
              <a:t>OF SHIPPED ORDERS —
NO CUSTOMER-REPORTED ISSUE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06640" y="4251960"/>
            <a:ext cx="25400" cy="1645920"/>
          </a:xfrm>
          <a:prstGeom prst="rect">
            <a:avLst/>
          </a:prstGeom>
          <a:solidFill>
            <a:srgbClr val="381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43800" y="4297680"/>
            <a:ext cx="3840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</a:pPr>
            <a:r>
              <a:rPr sz="1100" b="1" i="0">
                <a:solidFill>
                  <a:srgbClr val="242423"/>
                </a:solidFill>
                <a:latin typeface="Calibri"/>
              </a:rPr>
              <a:t>Held the line during the rebuild. </a:t>
            </a:r>
            <a:r>
              <a:rPr sz="1100" b="0" i="1">
                <a:solidFill>
                  <a:srgbClr val="242423"/>
                </a:solidFill>
                <a:latin typeface="Georgia"/>
              </a:rPr>
              <a:t>Q4 2025 — the quarter we re-sequenced the pick line — shipped record holiday volume (Dec 2025: 61,503 shipments) without degrading the accuracy floor.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9144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3D1152"/>
                </a:solidFill>
                <a:latin typeface="Calibri"/>
              </a:rPr>
              <a:t>WHAT LIES AHEAD · PHOENIX PHASE TWO · AND BEYOND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79"/>
              </a:lnSpc>
            </a:pPr>
            <a:r>
              <a:rPr sz="3200" b="0" i="0">
                <a:solidFill>
                  <a:srgbClr val="242423"/>
                </a:solidFill>
                <a:latin typeface="Georgia"/>
              </a:rPr>
              <a:t>Faster. Simpler. </a:t>
            </a:r>
            <a:r>
              <a:rPr sz="3200" b="0" i="1">
                <a:solidFill>
                  <a:srgbClr val="242423"/>
                </a:solidFill>
                <a:latin typeface="Georgia"/>
              </a:rPr>
              <a:t>And then — portable.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058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1">
                <a:solidFill>
                  <a:srgbClr val="242423"/>
                </a:solidFill>
                <a:latin typeface="Georgia"/>
              </a:rPr>
              <a:t>An $80,000 investment that pays itself back in twelve weeks — and teaches us how to wire the next warehouse in a week, not a year.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914400" cy="12700"/>
          </a:xfrm>
          <a:prstGeom prst="rect">
            <a:avLst/>
          </a:prstGeom>
          <a:solidFill>
            <a:srgbClr val="381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691640" cy="25400"/>
          </a:xfrm>
          <a:prstGeom prst="rect">
            <a:avLst/>
          </a:prstGeom>
          <a:solidFill>
            <a:srgbClr val="381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6916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0" i="0">
                <a:solidFill>
                  <a:srgbClr val="38165F"/>
                </a:solidFill>
                <a:latin typeface="Georgia"/>
              </a:rPr>
              <a:t>$80K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16916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PHASE 2
INVEST</a:t>
            </a:r>
          </a:p>
        </p:txBody>
      </p:sp>
      <p:sp>
        <p:nvSpPr>
          <p:cNvPr id="9" name="Rectangle 8"/>
          <p:cNvSpPr/>
          <p:nvPr/>
        </p:nvSpPr>
        <p:spPr>
          <a:xfrm>
            <a:off x="2423159" y="1508760"/>
            <a:ext cx="1691640" cy="25400"/>
          </a:xfrm>
          <a:prstGeom prst="rect">
            <a:avLst/>
          </a:prstGeom>
          <a:solidFill>
            <a:srgbClr val="381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23159" y="1600200"/>
            <a:ext cx="16916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0" i="0">
                <a:solidFill>
                  <a:srgbClr val="38165F"/>
                </a:solidFill>
                <a:latin typeface="Georgia"/>
              </a:rPr>
              <a:t>$7K/wk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59" y="1965960"/>
            <a:ext cx="16916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ONGOING
SAVINGS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78" y="1508760"/>
            <a:ext cx="1691640" cy="25400"/>
          </a:xfrm>
          <a:prstGeom prst="rect">
            <a:avLst/>
          </a:prstGeom>
          <a:solidFill>
            <a:srgbClr val="381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78" y="1600200"/>
            <a:ext cx="16916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0" i="0">
                <a:solidFill>
                  <a:srgbClr val="38165F"/>
                </a:solidFill>
                <a:latin typeface="Georgia"/>
              </a:rPr>
              <a:t>12 wks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78" y="1965960"/>
            <a:ext cx="16916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PAYBACK
PERIOD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197" y="1508760"/>
            <a:ext cx="1691640" cy="25400"/>
          </a:xfrm>
          <a:prstGeom prst="rect">
            <a:avLst/>
          </a:prstGeom>
          <a:solidFill>
            <a:srgbClr val="381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197" y="1600200"/>
            <a:ext cx="16916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0" i="0">
                <a:solidFill>
                  <a:srgbClr val="38165F"/>
                </a:solidFill>
                <a:latin typeface="Georgia"/>
              </a:rPr>
              <a:t>$364K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197" y="1965960"/>
            <a:ext cx="16916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YEAR-1
ANNUALIZED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16" y="1508760"/>
            <a:ext cx="1691640" cy="25400"/>
          </a:xfrm>
          <a:prstGeom prst="rect">
            <a:avLst/>
          </a:prstGeom>
          <a:solidFill>
            <a:srgbClr val="381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16" y="1600200"/>
            <a:ext cx="16916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0" i="0">
                <a:solidFill>
                  <a:srgbClr val="38165F"/>
                </a:solidFill>
                <a:latin typeface="Georgia"/>
              </a:rPr>
              <a:t>$1.1M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6" y="1965960"/>
            <a:ext cx="16916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THREE-YEAR
CUMULATIVE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921235" y="1508760"/>
            <a:ext cx="1691640" cy="25400"/>
          </a:xfrm>
          <a:prstGeom prst="rect">
            <a:avLst/>
          </a:prstGeom>
          <a:solidFill>
            <a:srgbClr val="381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21235" y="1600200"/>
            <a:ext cx="16916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0" i="0">
                <a:solidFill>
                  <a:srgbClr val="38165F"/>
                </a:solidFill>
                <a:latin typeface="Georgia"/>
              </a:rPr>
              <a:t>25–35%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5" y="1965960"/>
            <a:ext cx="16916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A5A5A5"/>
                </a:solidFill>
                <a:latin typeface="Calibri"/>
              </a:rPr>
              <a:t>OVERHEAD CUT
ON THE 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468880"/>
            <a:ext cx="36576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3D1152"/>
                </a:solidFill>
                <a:latin typeface="Calibri"/>
              </a:rPr>
              <a:t>PHASE TWO · ON THE 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697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39"/>
              </a:lnSpc>
            </a:pPr>
            <a:r>
              <a:rPr sz="1600" b="0" i="0">
                <a:solidFill>
                  <a:srgbClr val="242423"/>
                </a:solidFill>
                <a:latin typeface="Georgia"/>
              </a:rPr>
              <a:t>The things that still look </a:t>
            </a:r>
            <a:r>
              <a:rPr sz="1600" b="0" i="1">
                <a:solidFill>
                  <a:srgbClr val="38165F"/>
                </a:solidFill>
                <a:latin typeface="Georgia"/>
              </a:rPr>
              <a:t>manual.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063240"/>
            <a:ext cx="822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1">
                <a:solidFill>
                  <a:srgbClr val="38165F"/>
                </a:solidFill>
                <a:latin typeface="Georgia"/>
              </a:rPr>
              <a:t>Gift orders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3063240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0">
                <a:solidFill>
                  <a:srgbClr val="242423"/>
                </a:solidFill>
                <a:latin typeface="Calibri"/>
              </a:rPr>
              <a:t>Dedicated box-maker station at the line’s head. Gift-note printed on scan — never missed again.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355848"/>
            <a:ext cx="822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1">
                <a:solidFill>
                  <a:srgbClr val="38165F"/>
                </a:solidFill>
                <a:latin typeface="Georgia"/>
              </a:rPr>
              <a:t>QA stop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3355848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0">
                <a:solidFill>
                  <a:srgbClr val="242423"/>
                </a:solidFill>
                <a:latin typeface="Calibri"/>
              </a:rPr>
              <a:t>QA &amp; Organizer merge into one role. One person owns the box before it moves.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648456"/>
            <a:ext cx="822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1">
                <a:solidFill>
                  <a:srgbClr val="38165F"/>
                </a:solidFill>
                <a:latin typeface="Georgia"/>
              </a:rPr>
              <a:t>Sealing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3648456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0">
                <a:solidFill>
                  <a:srgbClr val="242423"/>
                </a:solidFill>
                <a:latin typeface="Calibri"/>
              </a:rPr>
              <a:t>Auto-sealer replaces manual tape &amp; fold. Seasonal rental — paid back in one peak week.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3941064"/>
            <a:ext cx="822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1">
                <a:solidFill>
                  <a:srgbClr val="38165F"/>
                </a:solidFill>
                <a:latin typeface="Georgia"/>
              </a:rPr>
              <a:t>Labeling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3941064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0">
                <a:solidFill>
                  <a:srgbClr val="242423"/>
                </a:solidFill>
                <a:latin typeface="Calibri"/>
              </a:rPr>
              <a:t>Three-tap ShipStation Mobile retired. Auto peel-and-apply labeler takes over.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233672"/>
            <a:ext cx="822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1">
                <a:solidFill>
                  <a:srgbClr val="38165F"/>
                </a:solidFill>
                <a:latin typeface="Georgia"/>
              </a:rPr>
              <a:t>Boxes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63040" y="4233672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0">
                <a:solidFill>
                  <a:srgbClr val="242423"/>
                </a:solidFill>
                <a:latin typeface="Calibri"/>
              </a:rPr>
              <a:t>Sizes re-aligned to FedEx One Rate tiers. New SKUs require box-team approval.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526280"/>
            <a:ext cx="822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1">
                <a:solidFill>
                  <a:srgbClr val="38165F"/>
                </a:solidFill>
                <a:latin typeface="Georgia"/>
              </a:rPr>
              <a:t>Bedding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63040" y="4526280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50" b="0" i="0">
                <a:solidFill>
                  <a:srgbClr val="242423"/>
                </a:solidFill>
                <a:latin typeface="Calibri"/>
              </a:rPr>
              <a:t>Pre-cut, known-weight. The checkweigher stops guessing; shipping math becomes exact.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2468880"/>
            <a:ext cx="36576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3D1152"/>
                </a:solidFill>
                <a:latin typeface="Calibri"/>
              </a:rPr>
              <a:t>THE MATH · CUMULATIVE $ THROUGH THE DOOR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2697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39"/>
              </a:lnSpc>
            </a:pPr>
            <a:r>
              <a:rPr sz="1600" b="0" i="0">
                <a:solidFill>
                  <a:srgbClr val="242423"/>
                </a:solidFill>
                <a:latin typeface="Georgia"/>
              </a:rPr>
              <a:t>$80K out. </a:t>
            </a:r>
            <a:r>
              <a:rPr sz="1600" b="0" i="1">
                <a:solidFill>
                  <a:srgbClr val="38165F"/>
                </a:solidFill>
                <a:latin typeface="Georgia"/>
              </a:rPr>
              <a:t>$1.1M back.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0" y="3063240"/>
            <a:ext cx="1097280" cy="12700"/>
          </a:xfrm>
          <a:prstGeom prst="rect">
            <a:avLst/>
          </a:prstGeom>
          <a:solidFill>
            <a:srgbClr val="2424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0" y="3127248"/>
            <a:ext cx="10972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 i="0">
                <a:solidFill>
                  <a:srgbClr val="38165F"/>
                </a:solidFill>
                <a:latin typeface="Georgia"/>
              </a:rPr>
              <a:t>Wk 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0" y="3401568"/>
            <a:ext cx="109728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50" b="1" i="0">
                <a:solidFill>
                  <a:srgbClr val="A5A5A5"/>
                </a:solidFill>
                <a:latin typeface="Calibri"/>
              </a:rPr>
              <a:t>BREAK-EVEN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06440" y="3063240"/>
            <a:ext cx="1097280" cy="12700"/>
          </a:xfrm>
          <a:prstGeom prst="rect">
            <a:avLst/>
          </a:prstGeom>
          <a:solidFill>
            <a:srgbClr val="2424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6440" y="3127248"/>
            <a:ext cx="10972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 i="0">
                <a:solidFill>
                  <a:srgbClr val="38165F"/>
                </a:solidFill>
                <a:latin typeface="Georgia"/>
              </a:rPr>
              <a:t>Wk 52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06440" y="3401568"/>
            <a:ext cx="109728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50" b="1" i="0">
                <a:solidFill>
                  <a:srgbClr val="A5A5A5"/>
                </a:solidFill>
                <a:latin typeface="Calibri"/>
              </a:rPr>
              <a:t>+$284K NET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040880" y="3063240"/>
            <a:ext cx="1097280" cy="12700"/>
          </a:xfrm>
          <a:prstGeom prst="rect">
            <a:avLst/>
          </a:prstGeom>
          <a:solidFill>
            <a:srgbClr val="2424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40880" y="3127248"/>
            <a:ext cx="10972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 i="0">
                <a:solidFill>
                  <a:srgbClr val="38165F"/>
                </a:solidFill>
                <a:latin typeface="Georgia"/>
              </a:rPr>
              <a:t>Yr 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40880" y="3401568"/>
            <a:ext cx="109728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50" b="1" i="0">
                <a:solidFill>
                  <a:srgbClr val="A5A5A5"/>
                </a:solidFill>
                <a:latin typeface="Calibri"/>
              </a:rPr>
              <a:t>+$1M NET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0" y="3749039"/>
            <a:ext cx="25400" cy="548640"/>
          </a:xfrm>
          <a:prstGeom prst="rect">
            <a:avLst/>
          </a:prstGeom>
          <a:solidFill>
            <a:srgbClr val="381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681728" y="3767328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7"/>
              </a:lnSpc>
            </a:pPr>
            <a:r>
              <a:rPr sz="1050" b="1" i="0">
                <a:solidFill>
                  <a:srgbClr val="242423"/>
                </a:solidFill>
                <a:latin typeface="Calibri"/>
              </a:rPr>
              <a:t>Read it this way — </a:t>
            </a:r>
            <a:r>
              <a:rPr sz="1050" b="0" i="1">
                <a:solidFill>
                  <a:srgbClr val="242423"/>
                </a:solidFill>
                <a:latin typeface="Georgia"/>
              </a:rPr>
              <a:t>every line of cost stays flat; every line of savings stacks. The curves cross at week twelve. Everything after is structural margin on the P&amp;L.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412480" y="2468880"/>
            <a:ext cx="3566160" cy="4023360"/>
          </a:xfrm>
          <a:prstGeom prst="rect">
            <a:avLst/>
          </a:prstGeom>
          <a:solidFill>
            <a:srgbClr val="3D11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595360" y="2560320"/>
            <a:ext cx="32004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EAE1F5"/>
                </a:solidFill>
                <a:latin typeface="Calibri"/>
              </a:rPr>
              <a:t>AND THEN — THE REAL UNLOCK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95360" y="27889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39"/>
              </a:lnSpc>
            </a:pPr>
            <a:r>
              <a:rPr sz="1600" b="0" i="0">
                <a:solidFill>
                  <a:srgbClr val="FFFFFF"/>
                </a:solidFill>
                <a:latin typeface="Georgia"/>
              </a:rPr>
              <a:t>A template that </a:t>
            </a:r>
            <a:r>
              <a:rPr sz="1600" b="0" i="1">
                <a:solidFill>
                  <a:srgbClr val="EAE1F5"/>
                </a:solidFill>
                <a:latin typeface="Georgia"/>
              </a:rPr>
              <a:t>travels.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95360" y="3200400"/>
            <a:ext cx="3200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FFFFFF"/>
                </a:solidFill>
                <a:latin typeface="Georgia"/>
              </a:rPr>
              <a:t>Chicago (Hub · Full SKU)  ───  Node II (Subset)  ───  Node III (Subset)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95360" y="3657600"/>
            <a:ext cx="3200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FFFFFF"/>
                </a:solidFill>
                <a:latin typeface="Georgia"/>
              </a:rPr>
              <a:t>Every simplification on this line is a step toward a standard — something we can wire somewhere else.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95360" y="4160520"/>
            <a:ext cx="3200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FFFFFF"/>
                </a:solidFill>
                <a:latin typeface="Georgia"/>
              </a:rPr>
              <a:t>A portable warehouse template. Light up a second location to fulfill a subset of products — closer to the customer, faster to deliver, cheaper to ship.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95360" y="4663440"/>
            <a:ext cx="3200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FFFFFF"/>
                </a:solidFill>
                <a:latin typeface="Georgia"/>
              </a:rPr>
              <a:t>Not a bigger building. A smarter network.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595360" y="5212080"/>
            <a:ext cx="3200400" cy="12700"/>
          </a:xfrm>
          <a:prstGeom prst="rect">
            <a:avLst/>
          </a:prstGeom>
          <a:solidFill>
            <a:srgbClr val="EAE1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95360" y="5303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</a:pPr>
            <a:r>
              <a:rPr sz="1100" b="1" i="1">
                <a:solidFill>
                  <a:srgbClr val="EAE1F5"/>
                </a:solidFill>
                <a:latin typeface="Georgia"/>
              </a:rPr>
              <a:t>Simplify first. Replicate second. </a:t>
            </a:r>
            <a:r>
              <a:rPr sz="1100" b="0" i="1">
                <a:solidFill>
                  <a:srgbClr val="FFFFFF"/>
                </a:solidFill>
                <a:latin typeface="Georgia"/>
              </a:rPr>
              <a:t>The next warehouse is a configuration, not a construction project.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